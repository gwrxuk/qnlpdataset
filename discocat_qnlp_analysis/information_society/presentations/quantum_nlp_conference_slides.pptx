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Welcome the audience and introduce yourself.</a:t>
            </a:r>
          </a:p>
          <a:p>
            <a:r>
              <a:t>- Frame the talk as the culmination of a multi-month deep dive into quantum natural language processing (QNLP) applied to Chinese-language news.</a:t>
            </a:r>
          </a:p>
          <a:p>
            <a:r>
              <a:t>- Mention collaboration across code, documentation, and visualization artifacts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Provide a roadmap so attendees know what to expect over 30 slides.</a:t>
            </a:r>
          </a:p>
          <a:p>
            <a:r>
              <a:t>- Emphasize that we will move from context to implementation to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Highlight concerns about AI news framing multiple realities simultaneously.</a:t>
            </a:r>
          </a:p>
          <a:p>
            <a:r>
              <a:t>- Stress why quantum formalisms (superposition, entanglement) align naturally with linguistic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Present each question as a thread we will resolve throughout the presentation.</a:t>
            </a:r>
          </a:p>
          <a:p>
            <a:r>
              <a:t>- Reference `paper/technical_methodology_detailed_explanation.md` for the full methodological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Cite the CSV files: `full_qiskit_ai_analysis_results.csv` and `cna_final_discocat_analysis_results.csv`.</a:t>
            </a:r>
          </a:p>
          <a:p>
            <a:r>
              <a:t>- Mention that CNA dataset validates external applicability.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Note neutral tone characteristics and high informational density in CNA content.</a:t>
            </a:r>
          </a:p>
          <a:p>
            <a:r>
              <a:t>- Stress the small but high-quality sample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Point out scale advantage: 894 entries support robust statistical comparison.</a:t>
            </a:r>
          </a:p>
          <a:p>
            <a:r>
              <a:t>- Mention reliance on Qiskit quantum simulator for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Walk through how segmentation feeds qubit assignment.</a:t>
            </a:r>
          </a:p>
          <a:p>
            <a:r>
              <a:t>- Reference `scripts/discocat_segmentation.py` for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Use the density matrix example from `paper/density_matrix_calculation_example.md` (N,N,N,F,V,...) to illustrate mapping.</a:t>
            </a:r>
          </a:p>
          <a:p>
            <a:r>
              <a:t>- Emphasize dynamic rotation angles from word frequency and emotional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Reference visualization script `paper/quantum_circuit_visualization.py` and generated PNGs.</a:t>
            </a:r>
          </a:p>
          <a:p>
            <a:r>
              <a:t>- Describe how superposition reflects simultaneous interpretive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Point attendees to `scripts/discocat_qnlp_analyzer.py` for implementation.</a:t>
            </a:r>
          </a:p>
          <a:p>
            <a:r>
              <a:t>- Stress that gates were tuned to lexical and syntactic cues.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Summarize detailed computation from `paper/density_matrix_calculation_example.md`.</a:t>
            </a:r>
          </a:p>
          <a:p>
            <a:r>
              <a:t>- Explain why N=2ⁿ (n qubits) underpins entropy normalization.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Reinforce that each metric derives from ρ and state phases.</a:t>
            </a:r>
          </a:p>
          <a:p>
            <a:r>
              <a:t>- Mention formulas consolidated in §6 of `technical_methodology_detailed_explanation.md`.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Interpret as evidence of AI producing multi-perspective narratives.</a:t>
            </a:r>
          </a:p>
          <a:p>
            <a:r>
              <a:t>- Clarify analyzer scale differences (Qiskit vs DisCoCat pipelines).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Explain that lower CNA content competition suggests more structured framing.</a:t>
            </a:r>
          </a:p>
          <a:p>
            <a:r>
              <a:t>- Reference visuals from `paper/frame_competition_illustration_fixed.py`.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Emphasize CNA content’s richer informational mix.</a:t>
            </a:r>
          </a:p>
          <a:p>
            <a:r>
              <a:t>- Discuss implications for journalistic depth vs AI uniformity.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Highlight neutrality in news tone; AI exhibits slightly more variation in dialogues.</a:t>
            </a:r>
          </a:p>
          <a:p>
            <a:r>
              <a:t>- Mention metric derived in `scripts/final_discocat_analyzer.py`.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Summarize steps from segmentation to final metrics.</a:t>
            </a:r>
          </a:p>
          <a:p>
            <a:r>
              <a:t>- Use this slide to demystify computation for non-quantum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Reference `quantum_sentiment_predictor.py` and `sentiment_analysis_report.md`.</a:t>
            </a:r>
          </a:p>
          <a:p>
            <a:r>
              <a:t>- Note class imbalance (98.6% neutral) reflecting journalistic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Highlight replication of paper methodology (`paper_based_sentiment_analyzer.py`).</a:t>
            </a:r>
          </a:p>
          <a:p>
            <a:r>
              <a:t>- Stress success in extending DisCoCat pipeline to multi-class emotion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Display reconstructed table with values from methodology document.</a:t>
            </a:r>
          </a:p>
          <a:p>
            <a:r>
              <a:t>- Emphasize relative patterns rather than absolute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Connect to editorial practices and contextual storytelling in CNA articles.</a:t>
            </a:r>
          </a:p>
          <a:p>
            <a:r>
              <a:t>- Discuss implications for audience interpretation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Encourage hybrid workflows leveraging strengths of both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Reference quantitative differences from analysis table and sentiment results.</a:t>
            </a:r>
          </a:p>
          <a:p>
            <a:r>
              <a:t>- Suggest targeted guardrails for AI emotional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Encourage attendees to review generated visuals for training and documentation.</a:t>
            </a:r>
          </a:p>
          <a:p>
            <a:r>
              <a:t>- Mention font-rendering solutions implemented (fallback fonts, ASCII symbols).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Highlight reproducible workflow: segmentation → circuit → metrics → reports.</a:t>
            </a:r>
          </a:p>
          <a:p>
            <a:r>
              <a:t>- Mention fixes for earlier runtime issues (font glyphs, import errors).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Synthesize numerical insights into strategic takeaways.</a:t>
            </a:r>
          </a:p>
          <a:p>
            <a:r>
              <a:t>- Emphasize contributions to quantum-assisted media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Discuss potential integrations into editorial QA, regulatory oversight, and AI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Acknowledge constraints candidly to build credibility.</a:t>
            </a:r>
          </a:p>
          <a:p>
            <a:r>
              <a:t>- Invite collaboration on future research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Thank the audience.</a:t>
            </a:r>
          </a:p>
          <a:p>
            <a:r>
              <a:t>- Open the floor for questions, referencing the documentation for deeper dives.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 NLP Insights into AI and CNA News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Presenter: [Your Name], [Affiliation]</a:t>
            </a:r>
          </a:p>
          <a:p>
            <a:r>
              <a:t>Event: [Conference Name], [Date]</a:t>
            </a:r>
          </a:p>
          <a:p>
            <a:r>
              <a:t>Project: DisCoCat Quantum NLP Emotional Tone &amp; Sentiment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 &amp; research questions</a:t>
            </a:r>
          </a:p>
          <a:p>
            <a:pPr/>
            <a:r>
              <a:t>Datasets and preprocessing pipeline</a:t>
            </a:r>
          </a:p>
          <a:p>
            <a:pPr/>
            <a:r>
              <a:t>Quantum circuit construction &amp; metrics</a:t>
            </a:r>
          </a:p>
          <a:p>
            <a:pPr/>
            <a:r>
              <a:t>Key findings: AI vs. CNA comparisons</a:t>
            </a:r>
          </a:p>
          <a:p>
            <a:pPr/>
            <a:r>
              <a:t>Sentiment &amp; emotion prediction reproductions</a:t>
            </a:r>
          </a:p>
          <a:p>
            <a:pPr/>
            <a:r>
              <a:t>Implications, limitations,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AI-generated news proliferating across platforms</a:t>
            </a:r>
          </a:p>
          <a:p>
            <a:pPr/>
            <a:r>
              <a:t>Need to measure framing, tone, and emotional balance rigorously</a:t>
            </a:r>
          </a:p>
          <a:p>
            <a:pPr/>
            <a:r>
              <a:t>Desire for transparent quantum-native methodology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AI and CNA news differ in frame competition and entropy?</a:t>
            </a:r>
          </a:p>
          <a:p>
            <a:pPr/>
            <a:r>
              <a:t>Can DisCoCat + Qiskit produce reproducible emotional tone metrics?</a:t>
            </a:r>
          </a:p>
          <a:p>
            <a:pPr/>
            <a:r>
              <a:t>How do quantum-inspired sentiment and emotion models perform on our datasets?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AI-generated corpus: 894 items (298 titles, 298 dialogues, 298 descriptions)</a:t>
            </a:r>
          </a:p>
          <a:p>
            <a:pPr/>
            <a:r>
              <a:t>CNA professional corpus: 40 articles (titles + content)</a:t>
            </a:r>
          </a:p>
          <a:p>
            <a:pPr/>
            <a:r>
              <a:t>Metadata &amp; processed outputs in `results/`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CNA Dataset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 titles + 20 corresponding full articles</a:t>
            </a:r>
          </a:p>
          <a:p>
            <a:pPr/>
            <a:r>
              <a:t>Segmented via jieba, POS-tagged, mapped into DisCoCat categories</a:t>
            </a:r>
          </a:p>
          <a:p>
            <a:pPr/>
            <a:r>
              <a:t>Results summarized in `technical_methodology_detailed_explanation.md` §6.10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Dataset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894 AI outputs from video pipeline (titles, dialogues, descriptions)</a:t>
            </a:r>
          </a:p>
          <a:p>
            <a:pPr/>
            <a:r>
              <a:t>Uniform high frame competition (1.0) across sections</a:t>
            </a:r>
          </a:p>
          <a:p>
            <a:pPr/>
            <a:r>
              <a:t>Stored analytics in `full_qiskit_ai_analysis_results.csv`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Chinese text segmentation (jieba)</a:t>
            </a:r>
          </a:p>
          <a:p>
            <a:pPr/>
            <a:r>
              <a:t>POS tagging mapped to 9 DisCoCat categories (N, V, A, D, P, R, C, F, X)</a:t>
            </a:r>
          </a:p>
          <a:p>
            <a:pPr/>
            <a:r>
              <a:t>Category statistics stored in segmentation CSVs (`results/*segmentation.csv`)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Grammatical-to-Qubit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grammatical category mapped to dedicated qubit index</a:t>
            </a:r>
          </a:p>
          <a:p>
            <a:pPr/>
            <a:r>
              <a:t>Example: Noun→q0, Verb→q1, Function/Filler→q2, etc.</a:t>
            </a:r>
          </a:p>
          <a:p>
            <a:pPr/>
            <a:r>
              <a:t>Frequency-based rotation scaling per category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Circuit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superposition via Hadamard gates on all qubits</a:t>
            </a:r>
          </a:p>
          <a:p>
            <a:pPr/>
            <a:r>
              <a:t>Category-specific `RY` and `RZ` rotations encode semantics</a:t>
            </a:r>
          </a:p>
          <a:p>
            <a:pPr/>
            <a:r>
              <a:t>Entangling gates (`CX`, `CRZ`) capture compositional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Gate Sequence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 |0⟩⊗n → Hadamard → category rotations</a:t>
            </a:r>
          </a:p>
          <a:p>
            <a:pPr/>
            <a:r>
              <a:t>Controlled operations for compositional entanglement</a:t>
            </a:r>
          </a:p>
          <a:p>
            <a:pPr/>
            <a:r>
              <a:t>Frame competition and semantic ambiguity subcircuits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Density Matrix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Statevector obtained from Qiskit simulator</a:t>
            </a:r>
          </a:p>
          <a:p>
            <a:pPr/>
            <a:r>
              <a:t>Density matrix ρ = |ψ⟩⟨ψ|</a:t>
            </a:r>
          </a:p>
          <a:p>
            <a:pPr/>
            <a:r>
              <a:t>Example: 3-qubit (N,F,V) leads to N=8 (2³) dimensional 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Quantum Metrics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Reality Strength</a:t>
            </a:r>
          </a:p>
          <a:p>
            <a:pPr/>
            <a:r>
              <a:t>Frame Competition (normalized von Neumann entropy)</a:t>
            </a:r>
          </a:p>
          <a:p>
            <a:pPr/>
            <a:r>
              <a:t>Von Neumann Entropy (bits)</a:t>
            </a:r>
          </a:p>
          <a:p>
            <a:pPr/>
            <a:r>
              <a:t>Semantic Interference (phase variance proxy)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Reality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Captures breadth of simultaneous interpretive frames</a:t>
            </a:r>
          </a:p>
          <a:p>
            <a:pPr/>
            <a:r>
              <a:t>AI: ~1.70 across sections vs CNA: 0.65–0.75</a:t>
            </a:r>
          </a:p>
          <a:p>
            <a:pPr/>
            <a:r>
              <a:t>Indicates richer, multi-frame positioning in AI content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Competition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= -Tr(ρ log₂ ρ) / log₂ N</a:t>
            </a:r>
          </a:p>
          <a:p>
            <a:pPr/>
            <a:r>
              <a:t>AI sections: 1.0000 (perfect competition)</a:t>
            </a:r>
          </a:p>
          <a:p>
            <a:pPr/>
            <a:r>
              <a:t>CNA: 0.9985 (titles) / 0.9173 (content)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Neumann Entropy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information density of quantum state</a:t>
            </a:r>
          </a:p>
          <a:p>
            <a:pPr/>
            <a:r>
              <a:t>AI: ~4.0 across sections (max for configuration)</a:t>
            </a:r>
          </a:p>
          <a:p>
            <a:pPr/>
            <a:r>
              <a:t>CNA: 3.44 (titles) vs 7.35 (content)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Interference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Proxy for emotional intensity via phase variance</a:t>
            </a:r>
          </a:p>
          <a:p>
            <a:pPr/>
            <a:r>
              <a:t>AI dialogue highest: 0.0178 vs CNA content: 0.0177</a:t>
            </a:r>
          </a:p>
          <a:p>
            <a:pPr/>
            <a:r>
              <a:t>Both corpora largely neutral with subtle variance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Density Matrix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Text: "麥當勞性侵案後改革 董事長發聲承諾改善"</a:t>
            </a:r>
          </a:p>
          <a:p>
            <a:pPr/>
            <a:r>
              <a:t>9 tokens → mapped to N, F, V categories</a:t>
            </a:r>
          </a:p>
          <a:p>
            <a:pPr/>
            <a:r>
              <a:t>8 qubits used to encode superposition &amp; interactions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Prediction Reproduction (Binary)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Quantum-inspired sentiment scores (positive/negative/neutral)</a:t>
            </a:r>
          </a:p>
          <a:p>
            <a:pPr/>
            <a:r>
              <a:t>Dataset: 934 samples (AI + CNA)</a:t>
            </a:r>
          </a:p>
          <a:p>
            <a:pPr/>
            <a:r>
              <a:t>Model accuracy: 0.984 (Random Forest/SVM/LogReg)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 Classification (Paper-Based)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emotions: happiness, fear, anger, sadness</a:t>
            </a:r>
          </a:p>
          <a:p>
            <a:pPr/>
            <a:r>
              <a:t>Quantum Logistic Regression accuracy: 0.9572</a:t>
            </a:r>
          </a:p>
          <a:p>
            <a:pPr/>
            <a:r>
              <a:t>Balanced distribution: anger (27%), fear (25%), happiness (25%), sadness (23%)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CNA Metric 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Counts &amp; metric means from §6.11</a:t>
            </a:r>
          </a:p>
          <a:p>
            <a:pPr/>
            <a:r>
              <a:t>AI Titles/Dialogues/Descriptions: MR≈1.70, C=1.0000, S≈0.01, S_interf≤0.018</a:t>
            </a:r>
          </a:p>
          <a:p>
            <a:pPr/>
            <a:r>
              <a:t>CNA Titles/Content: MR≈0.75/0.65, C≈0.999/0.917, Entropy≈3.44/7.35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Competition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perfect competition → uniform framing</a:t>
            </a:r>
          </a:p>
          <a:p>
            <a:pPr/>
            <a:r>
              <a:t>CNA titles near perfect; content drops due to narrative focus</a:t>
            </a:r>
          </a:p>
          <a:p>
            <a:pPr/>
            <a:r>
              <a:t>Suggests professional curation yields dominant framing in long-form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Entropy &amp; Information Density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CNA content entropy 7.35 &gt;&gt; AI 4.0 → richer detail</a:t>
            </a:r>
          </a:p>
          <a:p>
            <a:pPr/>
            <a:r>
              <a:t>AI uniform entropy = consistent but potentially shallow coverage</a:t>
            </a:r>
          </a:p>
          <a:p>
            <a:pPr/>
            <a:r>
              <a:t>Highlights complementarity of AI summaries and human deep dives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Emotional Tone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dialogues slightly higher interference → more emotion</a:t>
            </a:r>
          </a:p>
          <a:p>
            <a:pPr/>
            <a:r>
              <a:t>CNA remains tightly neutral across sections</a:t>
            </a:r>
          </a:p>
          <a:p>
            <a:pPr/>
            <a:r>
              <a:t>Supports hypothesis of AI modeling emotional variance for engagement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Density matrix workflow diagrams (`paper/density_matrix_*.png`)</a:t>
            </a:r>
          </a:p>
          <a:p>
            <a:pPr/>
            <a:r>
              <a:t>Quantum circuit diagrams (`quantum_circuit_diagram.png`)</a:t>
            </a:r>
          </a:p>
          <a:p>
            <a:pPr/>
            <a:r>
              <a:t>Frame competition illustrations (`frame_competition_*`)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Tooling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Scripts in `scripts/` and `paper/` orchestrating analysis &amp; visuals</a:t>
            </a:r>
          </a:p>
          <a:p>
            <a:pPr/>
            <a:r>
              <a:t>Results stored in `results/` and `sentiment_prediction_from_paper/`</a:t>
            </a:r>
          </a:p>
          <a:p>
            <a:pPr/>
            <a:r>
              <a:t>Automation via Qiskit simulators and Python pipelines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content: high frame competition, multiple realities, uniform entropy</a:t>
            </a:r>
          </a:p>
          <a:p>
            <a:pPr/>
            <a:r>
              <a:t>CNA content: richer entropy, structured framing, sustained neutrality</a:t>
            </a:r>
          </a:p>
          <a:p>
            <a:pPr/>
            <a:r>
              <a:t>Quantum sentiment &amp; emotion models perform robustly (≥95% accuracy)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 watchdogs can audit AI framing with quantum metrics</a:t>
            </a:r>
          </a:p>
          <a:p>
            <a:pPr/>
            <a:r>
              <a:t>Newsrooms can benchmark AI tools against human-authored standards</a:t>
            </a:r>
          </a:p>
          <a:p>
            <a:pPr/>
            <a:r>
              <a:t>Quantum pipelines unlock nuanced tone monitoring in Chinese-language corpora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imbalance in sentiment labels (98.6% neutral)</a:t>
            </a:r>
          </a:p>
          <a:p>
            <a:pPr/>
            <a:r>
              <a:t>Need for larger CNA sample and real quantum hardware runs</a:t>
            </a:r>
          </a:p>
          <a:p>
            <a:pPr/>
            <a:r>
              <a:t>Planned extensions: richer lexicons, temporal analysis, human-in-the-loop validation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Recap: Quantum lens reveals framing differentials between AI and CNA news</a:t>
            </a:r>
          </a:p>
          <a:p>
            <a:pPr/>
            <a:r>
              <a:t>All assets available in repository under `/paper`, `/results`, `/presentations`</a:t>
            </a:r>
          </a:p>
          <a:p>
            <a:pPr/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